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strument Sans Semi Bold"/>
      <p:regular r:id="rId15"/>
    </p:embeddedFont>
    <p:embeddedFont>
      <p:font typeface="Instrument Sans Semi Bold"/>
      <p:regular r:id="rId16"/>
    </p:embeddedFon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Pricing &amp; Room Type Analysis of Airbnb: Chicago vs New Orleans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of 6,542 Airbnb listings across Chicago (60.4%) and New Orleans (39.6%), examining pricing trends, room types, and guest experiences.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8460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821561"/>
            <a:ext cx="289524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by Rakhi Chakrabarty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590" y="417552"/>
            <a:ext cx="3783092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Market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9590" y="1192887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6,542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3626168" y="1881307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Total Listings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9590" y="2208490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Across both cities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9590" y="2980015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$146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3626168" y="3668435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Average Price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590" y="3995618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 night across both markets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9590" y="4767143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$152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626168" y="5455563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Chicago Average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9590" y="5782747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Slightly higher than overall average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9590" y="6554272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$137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626048" y="7242691"/>
            <a:ext cx="1891903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New Orleans Average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9590" y="7569875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More affordable option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005" y="482441"/>
            <a:ext cx="5338405" cy="548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Geographical Distribution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05" y="1381482"/>
            <a:ext cx="13402389" cy="7505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2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Room Type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330" y="3642598"/>
            <a:ext cx="7825621" cy="782562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239" y="5848826"/>
            <a:ext cx="382667" cy="47839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642598"/>
            <a:ext cx="7825621" cy="782562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748" y="4381500"/>
            <a:ext cx="382667" cy="478393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642598"/>
            <a:ext cx="7825621" cy="7825621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137" y="5848826"/>
            <a:ext cx="382667" cy="478393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735931" y="3010376"/>
            <a:ext cx="2236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Entire Home/Apt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1735931" y="3500795"/>
            <a:ext cx="22363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72% of listings</a:t>
            </a:r>
            <a:endParaRPr lang="en-US" sz="1750" dirty="0"/>
          </a:p>
        </p:txBody>
      </p:sp>
      <p:sp>
        <p:nvSpPr>
          <p:cNvPr id="11" name="Text 3"/>
          <p:cNvSpPr/>
          <p:nvPr/>
        </p:nvSpPr>
        <p:spPr>
          <a:xfrm>
            <a:off x="1735931" y="3999786"/>
            <a:ext cx="22363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Average: $178/night</a:t>
            </a:r>
            <a:endParaRPr lang="en-US" sz="1750" dirty="0"/>
          </a:p>
        </p:txBody>
      </p:sp>
      <p:sp>
        <p:nvSpPr>
          <p:cNvPr id="12" name="Text 4"/>
          <p:cNvSpPr/>
          <p:nvPr/>
        </p:nvSpPr>
        <p:spPr>
          <a:xfrm>
            <a:off x="6314003" y="1836658"/>
            <a:ext cx="2002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Private Room</a:t>
            </a:r>
            <a:endParaRPr lang="en-US" sz="2200" dirty="0"/>
          </a:p>
        </p:txBody>
      </p:sp>
      <p:sp>
        <p:nvSpPr>
          <p:cNvPr id="13" name="Text 5"/>
          <p:cNvSpPr/>
          <p:nvPr/>
        </p:nvSpPr>
        <p:spPr>
          <a:xfrm>
            <a:off x="6314003" y="2327077"/>
            <a:ext cx="20022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25% of listings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6314003" y="2826068"/>
            <a:ext cx="20022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Average: $73/night</a:t>
            </a:r>
            <a:endParaRPr lang="en-US" sz="1750" dirty="0"/>
          </a:p>
        </p:txBody>
      </p:sp>
      <p:sp>
        <p:nvSpPr>
          <p:cNvPr id="15" name="Text 7"/>
          <p:cNvSpPr/>
          <p:nvPr/>
        </p:nvSpPr>
        <p:spPr>
          <a:xfrm>
            <a:off x="10811113" y="3010376"/>
            <a:ext cx="19301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Shared Room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10811113" y="3500795"/>
            <a:ext cx="1930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3% of listings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10811113" y="3999786"/>
            <a:ext cx="1930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Lowest price point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2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633" y="539472"/>
            <a:ext cx="4904780" cy="61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Price Distribution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33" y="1446848"/>
            <a:ext cx="980956" cy="15617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61793" y="1642943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Budget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961793" y="2067163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 $100/night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961793" y="2498646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Mostly private rooms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33" y="3008590"/>
            <a:ext cx="980956" cy="15617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61793" y="3204686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Mid-Range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961793" y="3628906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$100-$200/night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961793" y="4060388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80% of all listings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33" y="4570333"/>
            <a:ext cx="980956" cy="15617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61793" y="4766429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Luxury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961793" y="5190649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$200-$500/night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961793" y="5622131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Premium locations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33" y="6132076"/>
            <a:ext cx="980956" cy="15617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61793" y="6328172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Ultra-Luxury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1961793" y="6752392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$500+/night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961793" y="7183874"/>
            <a:ext cx="649557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Rare specialty listings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84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Review and Guest Experience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96170"/>
            <a:ext cx="3664863" cy="2546985"/>
          </a:xfrm>
          <a:prstGeom prst="roundRect">
            <a:avLst>
              <a:gd name="adj" fmla="val 374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9306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Overall Satisfaction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421023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review score: 4.63/5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3920014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Chicago: 4.66/5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4419005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Orleans: 4.59/5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867" y="2696170"/>
            <a:ext cx="3664863" cy="2546985"/>
          </a:xfrm>
          <a:prstGeom prst="roundRect">
            <a:avLst>
              <a:gd name="adj" fmla="val 374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06301" y="29306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Value Insight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06301" y="342102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Highest-rated listings (&gt;4.8) average $110-$130/night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406301" y="428291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Good service doesn't always mean premium pricing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469969"/>
            <a:ext cx="7556421" cy="1821180"/>
          </a:xfrm>
          <a:prstGeom prst="roundRect">
            <a:avLst>
              <a:gd name="adj" fmla="val 523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4624" y="570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Neighborhoods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14624" y="619482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Bywater and Logan Square have highest ratings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514624" y="669381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Indicates quality stays and vibrant host activity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2799" y="975836"/>
            <a:ext cx="7155537" cy="639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Availability &amp; Seasonal Trends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33066" y="1922502"/>
            <a:ext cx="22860" cy="5331262"/>
          </a:xfrm>
          <a:prstGeom prst="roundRect">
            <a:avLst>
              <a:gd name="adj" fmla="val 376113"/>
            </a:avLst>
          </a:prstGeom>
          <a:solidFill>
            <a:srgbClr val="C8C9CF"/>
          </a:solidFill>
          <a:ln/>
        </p:spPr>
      </p:sp>
      <p:sp>
        <p:nvSpPr>
          <p:cNvPr id="5" name="Shape 2"/>
          <p:cNvSpPr/>
          <p:nvPr/>
        </p:nvSpPr>
        <p:spPr>
          <a:xfrm>
            <a:off x="6640473" y="2371606"/>
            <a:ext cx="614124" cy="22860"/>
          </a:xfrm>
          <a:prstGeom prst="roundRect">
            <a:avLst>
              <a:gd name="adj" fmla="val 376113"/>
            </a:avLst>
          </a:prstGeom>
          <a:solidFill>
            <a:srgbClr val="C8C9CF"/>
          </a:solidFill>
          <a:ln/>
        </p:spPr>
      </p:sp>
      <p:sp>
        <p:nvSpPr>
          <p:cNvPr id="6" name="Shape 3"/>
          <p:cNvSpPr/>
          <p:nvPr/>
        </p:nvSpPr>
        <p:spPr>
          <a:xfrm>
            <a:off x="6202799" y="2152769"/>
            <a:ext cx="460534" cy="46053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35" y="2191167"/>
            <a:ext cx="307062" cy="3837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646" y="2127171"/>
            <a:ext cx="2558891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Year-Round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56646" y="2569726"/>
            <a:ext cx="645735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listings available 200+ days/year, especially in Chicago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640473" y="3755588"/>
            <a:ext cx="614124" cy="22860"/>
          </a:xfrm>
          <a:prstGeom prst="roundRect">
            <a:avLst>
              <a:gd name="adj" fmla="val 376113"/>
            </a:avLst>
          </a:prstGeom>
          <a:solidFill>
            <a:srgbClr val="C8C9CF"/>
          </a:solidFill>
          <a:ln/>
        </p:spPr>
      </p:sp>
      <p:sp>
        <p:nvSpPr>
          <p:cNvPr id="11" name="Shape 7"/>
          <p:cNvSpPr/>
          <p:nvPr/>
        </p:nvSpPr>
        <p:spPr>
          <a:xfrm>
            <a:off x="6202799" y="3536752"/>
            <a:ext cx="460534" cy="46053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535" y="3575149"/>
            <a:ext cx="307062" cy="3837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6646" y="3511153"/>
            <a:ext cx="2558891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Summer Peak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456646" y="3953708"/>
            <a:ext cx="645735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activity June-August in both cities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640473" y="5139571"/>
            <a:ext cx="614124" cy="22860"/>
          </a:xfrm>
          <a:prstGeom prst="roundRect">
            <a:avLst>
              <a:gd name="adj" fmla="val 376113"/>
            </a:avLst>
          </a:prstGeom>
          <a:solidFill>
            <a:srgbClr val="C8C9CF"/>
          </a:solidFill>
          <a:ln/>
        </p:spPr>
      </p:sp>
      <p:sp>
        <p:nvSpPr>
          <p:cNvPr id="16" name="Shape 11"/>
          <p:cNvSpPr/>
          <p:nvPr/>
        </p:nvSpPr>
        <p:spPr>
          <a:xfrm>
            <a:off x="6202799" y="4920734"/>
            <a:ext cx="460534" cy="46053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535" y="4959132"/>
            <a:ext cx="307062" cy="3837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6646" y="4895136"/>
            <a:ext cx="2558891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Pricing Strategy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456646" y="5337691"/>
            <a:ext cx="645735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High-availability listings priced 10-15% lower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640473" y="6523553"/>
            <a:ext cx="614124" cy="22860"/>
          </a:xfrm>
          <a:prstGeom prst="roundRect">
            <a:avLst>
              <a:gd name="adj" fmla="val 376113"/>
            </a:avLst>
          </a:prstGeom>
          <a:solidFill>
            <a:srgbClr val="C8C9CF"/>
          </a:solidFill>
          <a:ln/>
        </p:spPr>
      </p:sp>
      <p:sp>
        <p:nvSpPr>
          <p:cNvPr id="21" name="Shape 15"/>
          <p:cNvSpPr/>
          <p:nvPr/>
        </p:nvSpPr>
        <p:spPr>
          <a:xfrm>
            <a:off x="6202799" y="6304717"/>
            <a:ext cx="460534" cy="46053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535" y="6343114"/>
            <a:ext cx="307062" cy="3837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6646" y="6279118"/>
            <a:ext cx="2558891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Part-Time Hosting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456646" y="6721673"/>
            <a:ext cx="645735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Listings with &lt;100 days availability often belong to casual hosts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79825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Host Dynamics &amp; Conclusions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Market Insights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61929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Chicago dominates in quantity, New Orleans in affordability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8C9C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Host Distribution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57377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45% manage one listing; top 10% control 35% of market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8C9CF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Value Finding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39828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reviews not limited to high prices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2025-04-12T20:36:07Z</dcterms:created>
  <dcterms:modified xsi:type="dcterms:W3CDTF">2025-04-12T20:36:07Z</dcterms:modified>
</cp:coreProperties>
</file>